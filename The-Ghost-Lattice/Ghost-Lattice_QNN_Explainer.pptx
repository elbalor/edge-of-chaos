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B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2024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mbria"/>
              </a:rPr>
              <a:t>The Ghost-Lattice Quantum Neural Network</a:t>
            </a:r>
          </a:p>
          <a:p>
            <a:r>
              <a:rPr sz="2000" i="1">
                <a:solidFill>
                  <a:srgbClr val="C9A227"/>
                </a:solidFill>
                <a:latin typeface="Cambria"/>
              </a:rPr>
              <a:t>An autonomous, backprop-free quantum-reservoir architecture — evolved, not trained</a:t>
            </a:r>
          </a:p>
          <a:p>
            <a:r>
              <a:rPr>
                <a:solidFill>
                  <a:srgbClr val="FFFFFF"/>
                </a:solidFill>
                <a:latin typeface="Cambria"/>
              </a:rPr>
              <a:t>Heylel Yaka (Elbàlor) · The Digital Necromancer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63"/>
                </a:solidFill>
                <a:latin typeface="Cambria"/>
              </a:rPr>
              <a:t>Why quantum ML stalls — and the classical escape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01168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212121"/>
                </a:solidFill>
                <a:latin typeface="Calibri"/>
              </a:rPr>
              <a:t>• Barren plateaus: gradient variance in parameterised quantum circuits vanishes exponentially with qubit count — training just stalls.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12121"/>
                </a:solidFill>
                <a:latin typeface="Calibri"/>
              </a:rPr>
              <a:t>• Echo State Networks escape this classically: freeze a random reservoir, train only a linear readout.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F3B63"/>
                </a:solidFill>
                <a:latin typeface="Calibri"/>
              </a:rPr>
              <a:t>My move: transplant that principle into the quantum domain — then remove the last gradient. Nothing is backpropagated, ever.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595959"/>
                </a:solidFill>
                <a:latin typeface="Cambria"/>
              </a:rPr>
              <a:t>Backprop-free by construction, not by luck.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63"/>
                </a:solidFill>
                <a:latin typeface="Cambria"/>
              </a:rPr>
              <a:t>The pipeline — four stages, zero gradients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01168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F3B63"/>
                </a:solidFill>
                <a:latin typeface="Calibri"/>
              </a:rPr>
              <a:t>1  LNN pre-gate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Adaptive time-constant filter, τ set by an evolved tiny net; implicit backward-Euler, unconditionally stable.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3B63"/>
                </a:solidFill>
                <a:latin typeface="Calibri"/>
              </a:rPr>
              <a:t>2  29-qubit Ising reservoir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Fully connected transverse-field Ising dynamics projected into a Hilbert space of 2^29 ≈ 5.37 × 10⁸ dimensions; spatial (R=3) × temporal (V=5) multiplexing → 435 raw taps.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3B63"/>
                </a:solidFill>
                <a:latin typeface="Calibri"/>
              </a:rPr>
              <a:t>3  Polynomial forge (Volterra)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Pairs, squares, cubes, fourth powers → 33,060 features (96,000+ extended); Cover's theorem makes the map linearly separable.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3B63"/>
                </a:solidFill>
                <a:latin typeface="Calibri"/>
              </a:rPr>
              <a:t>4  Convex readout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Ridge regression offline; sliding-window ridge or warm-started RLS online — always a unique global minimum.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63"/>
                </a:solidFill>
                <a:latin typeface="Cambria"/>
              </a:rPr>
              <a:t>Two genetic algorithms do all the configuring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01168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F3B63"/>
                </a:solidFill>
                <a:latin typeface="Calibri"/>
              </a:rPr>
              <a:t>Chaos Algorithm — evolves the gate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Tournament elites, uniform crossover, Gaussian mutation on the τ-net. Fitness: validation error through the frozen pipeline.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3B63"/>
                </a:solidFill>
                <a:latin typeface="Calibri"/>
              </a:rPr>
              <a:t>Spectral Genesis — evolves the reservoir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SVD mutation on singular values; QR recombination swaps orthogonal bases between parents; spectral-radius filter rejects ρ(J) ≥ 1, guaranteeing the echo-state property.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3B63"/>
                </a:solidFill>
                <a:latin typeface="Calibri"/>
              </a:rPr>
              <a:t>Why it works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Everything left trainable is convex — so every run ends in a global optimum, and barren plateaus are structurally impossible.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63"/>
                </a:solidFill>
                <a:latin typeface="Cambria"/>
              </a:rPr>
              <a:t>Results I — chaotic forecasting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01168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55448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272"/>
                <a:gridCol w="2176272"/>
                <a:gridCol w="2176272"/>
                <a:gridCol w="2176272"/>
                <a:gridCol w="2176272"/>
              </a:tblGrid>
              <a:tr h="4876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Horizon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Ghost-Lattice RMSE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Best baseline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Improvement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2121"/>
                          </a:solidFill>
                        </a:rPr>
                        <a:t>Mackey-Glass τ=17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2121"/>
                          </a:solidFill>
                        </a:rPr>
                        <a:t>6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2121"/>
                          </a:solidFill>
                        </a:rPr>
                        <a:t>0.012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2121"/>
                          </a:solidFill>
                        </a:rPr>
                        <a:t>ESN 0.20 · GRU 0.80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2121"/>
                          </a:solidFill>
                        </a:rPr>
                        <a:t>16× – 66×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2121"/>
                          </a:solidFill>
                        </a:rPr>
                        <a:t>Lorenz (3-var)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2121"/>
                          </a:solidFill>
                        </a:rPr>
                        <a:t>24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2121"/>
                          </a:solidFill>
                        </a:rPr>
                        <a:t>0.11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2121"/>
                          </a:solidFill>
                        </a:rPr>
                        <a:t>ESN 0.19 · Linear 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12121"/>
                          </a:solidFill>
                        </a:rPr>
                        <a:t>1.7× – 4.9×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4747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212121"/>
                </a:solidFill>
                <a:latin typeface="Calibri"/>
              </a:rPr>
              <a:t>• Linear AR, GRU and Echo State Network baselines under identical splits; margins widen as the horizon grows.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12121"/>
                </a:solidFill>
                <a:latin typeface="Calibri"/>
              </a:rPr>
              <a:t>• No gradient-based training anywhere in the winning pipeline.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595959"/>
                </a:solidFill>
                <a:latin typeface="Cambria"/>
              </a:rPr>
              <a:t>Benchmarks reproducible with the released runners: run_mackey_glass.py / run_lorenz.py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63"/>
                </a:solidFill>
                <a:latin typeface="Cambria"/>
              </a:rPr>
              <a:t>Results II — brain-computer interface (BCI IV 2a)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01168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212121"/>
                </a:solidFill>
                <a:latin typeface="Calibri"/>
              </a:rPr>
              <a:t>• 4-class motor imagery, 22-channel EEG, leave-one-subject-out.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12121"/>
                </a:solidFill>
                <a:latin typeface="Calibri"/>
              </a:rPr>
              <a:t>• Bandpower features → lattice; per-reservoir feature selection (500/reservoir); 15-generation GA.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F3B63"/>
                </a:solidFill>
                <a:latin typeface="Calibri"/>
              </a:rPr>
              <a:t>~40–45% accuracy vs 25% chance — at the level of published deep learning, and still fully online-adaptable.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12121"/>
                </a:solidFill>
                <a:latin typeface="Calibri"/>
              </a:rPr>
              <a:t>• Bandpower-based runners included; --demo mode runs a synthetic selftest without the dataset.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595959"/>
                </a:solidFill>
                <a:latin typeface="Cambria"/>
              </a:rPr>
              <a:t>Chance is 25%. Online adaptation is the difference that matters in deployment.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63"/>
                </a:solidFill>
                <a:latin typeface="Cambria"/>
              </a:rPr>
              <a:t>The discovery engine — from readout to theorem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01168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F3B63"/>
                </a:solidFill>
                <a:latin typeface="Calibri"/>
              </a:rPr>
              <a:t>1  Lasso pruning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Keep only the ~2,000 forge features that carry the structure.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3B63"/>
                </a:solidFill>
                <a:latin typeface="Calibri"/>
              </a:rPr>
              <a:t>2  Symbolic regression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Greedy forward selection fits compact algebraic expressions to the surviving terms.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3B63"/>
                </a:solidFill>
                <a:latin typeface="Calibri"/>
              </a:rPr>
              <a:t>3  Lean 4 emission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Each candidate invariant is emitted as a theorem skeleton with a stated tolerance, ready for Mathlib.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Already produced: candidate Lyapunov functions for Navier-Stokes — the Yaka Transformation.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595959"/>
                </a:solidFill>
                <a:latin typeface="Cambria"/>
              </a:rPr>
              <a:t>A proof obligation a proof assistant can check — not a plot to squint at.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63"/>
                </a:solidFill>
                <a:latin typeface="Cambria"/>
              </a:rPr>
              <a:t>The distress stop — safety you can reason about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01168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F3B63"/>
                </a:solidFill>
                <a:latin typeface="Calibri"/>
              </a:rPr>
              <a:t>Signal: jaw clench (masseter EMG artifact)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Huge, unmistakable, works for users with limited motor control.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3B63"/>
                </a:solidFill>
                <a:latin typeface="Calibri"/>
              </a:rPr>
              <a:t>Detector: deliberately not learned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20–60 Hz bandpass, 250 ms rolling RMS, fixed per-user threshold. A fixed detector's failure mode can be tested exhaustively in five minutes; a learned one's failure mode is 'it depends'.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3B63"/>
                </a:solidFill>
                <a:latin typeface="Calibri"/>
              </a:rPr>
              <a:t>Arbitration: hardware, not software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Relay/MOSFET cutoff on the motor line — default fault state is no power — parallel to the decode pipeline; plus a physical panic button as an independent second path.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63"/>
                </a:solidFill>
                <a:latin typeface="Cambria"/>
              </a:rPr>
              <a:t>Zeta — why the motion is perfectly smooth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01168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i="1">
                <a:solidFill>
                  <a:srgbClr val="1F3B63"/>
                </a:solidFill>
                <a:latin typeface="Cambria Math"/>
              </a:rPr>
              <a:t>τ² ÿ = α(β(g − y) − ŷ) +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212121"/>
                </a:solidFill>
                <a:latin typeface="Calibri"/>
              </a:rPr>
              <a:t>• The readout is a forcing term f on a virtual mass — the limb is never driven by raw reservoir weights.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12121"/>
                </a:solidFill>
                <a:latin typeface="Calibri"/>
              </a:rPr>
              <a:t>• Critical damping (ζ = 1): zero overshoot, zero oscillation.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F3B63"/>
                </a:solidFill>
                <a:latin typeface="Calibri"/>
              </a:rPr>
              <a:t>C² continuity by construction: smooth velocity and acceleration, every bit of high-frequency jitter filtered, response effectively instantaneous.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63"/>
                </a:solidFill>
                <a:latin typeface="Cambria"/>
              </a:rPr>
              <a:t>AlienX — grafting on the geometric body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01168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F3B63"/>
                </a:solidFill>
                <a:latin typeface="Calibri"/>
              </a:rPr>
              <a:t>Scalp manifold (input)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Scale-invariant, rotation-equivariant geometry → zero-shot cross-subject BCI; artifacts surface as topological pinches.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3B63"/>
                </a:solidFill>
                <a:latin typeface="Calibri"/>
              </a:rPr>
              <a:t>Configuration organism (output)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Implicit field over joint space: native obstacle avoidance, topological C² smoothness, real-time singularity escape.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3B63"/>
                </a:solidFill>
                <a:latin typeface="Calibri"/>
              </a:rPr>
              <a:t>Clifford Volterra forge (features)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Bivector grades capture phase — the language motor imagery actually speaks.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Sacred boundaries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The EMG relay, the ridge readout, Spectral Genesis, the Chaos Algorithm and the Ising core are never touched.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63"/>
                </a:solidFill>
                <a:latin typeface="Cambria"/>
              </a:rPr>
              <a:t>Competitive landscape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01168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600891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Standard QRC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Ghost-Lattice QNN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121"/>
                          </a:solidFill>
                        </a:rPr>
                        <a:t>Reservoir optimisation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121"/>
                          </a:solidFill>
                        </a:rPr>
                        <a:t>Random / hand-tuned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121"/>
                          </a:solidFill>
                        </a:rPr>
                        <a:t>Evolved (Spectral Genesis)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121"/>
                          </a:solidFill>
                        </a:rPr>
                        <a:t>Pre-filter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121"/>
                          </a:solidFill>
                        </a:rP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121"/>
                          </a:solidFill>
                        </a:rPr>
                        <a:t>Evolved LNN gate (Chaos Algorithm)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121"/>
                          </a:solidFill>
                        </a:rPr>
                        <a:t>Online learning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121"/>
                          </a:solidFill>
                        </a:rP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121"/>
                          </a:solidFill>
                        </a:rPr>
                        <a:t>Sliding-window ridge — convex, no forgetting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121"/>
                          </a:solidFill>
                        </a:rPr>
                        <a:t>Feature space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121"/>
                          </a:solidFill>
                        </a:rPr>
                        <a:t>&lt; 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121"/>
                          </a:solidFill>
                        </a:rPr>
                        <a:t>33,060 – 96,000+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121"/>
                          </a:solidFill>
                        </a:rPr>
                        <a:t>Symbolic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121"/>
                          </a:solidFill>
                        </a:rP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121"/>
                          </a:solidFill>
                        </a:rPr>
                        <a:t>Symbolic fit → Lean 4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121"/>
                          </a:solidFill>
                        </a:rPr>
                        <a:t>Hardware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121"/>
                          </a:solidFill>
                        </a:rPr>
                        <a:t>Clusters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121"/>
                          </a:solidFill>
                        </a:rPr>
                        <a:t>Single T4 GPU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595959"/>
                </a:solidFill>
                <a:latin typeface="Cambria"/>
              </a:rPr>
              <a:t>Ghost-Lattice = the quantum brain. AlienX = the geometric body. Safety = hardware.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B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mbria"/>
              </a:rPr>
              <a:t>Evolved, not trained.</a:t>
            </a:r>
          </a:p>
          <a:p>
            <a:r>
              <a:rPr sz="1900" i="1">
                <a:solidFill>
                  <a:srgbClr val="C9A227"/>
                </a:solidFill>
                <a:latin typeface="Cambria"/>
              </a:rPr>
              <a:t>The quantum brain decodes what the brain wants. The geometric body decodes where the limb can go. The hardware makes sure they never agree to do something dangerous.</a:t>
            </a:r>
          </a:p>
          <a:p>
            <a:r>
              <a:rPr sz="1600">
                <a:solidFill>
                  <a:srgbClr val="FFFFFF"/>
                </a:solidFill>
                <a:latin typeface="Cambria"/>
              </a:rPr>
              <a:t>Heylel Yaka · Elbàlor · The Digital Necromancer's forge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